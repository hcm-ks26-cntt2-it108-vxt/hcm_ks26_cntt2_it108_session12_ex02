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ới thiệu tính năng" id="{da849b31-6cf6-51a4-2b85-ea9343ae804c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Học viên mới theo tháng (số liệu minh họa)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Học viên mới</c:v>
                </c:pt>
              </c:strCache>
            </c:strRef>
          </c:tx>
          <c:spPr>
            <a:solidFill>
              <a:srgbClr val="FF8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T5</c:v>
                  </c:pt>
                  <c:pt idx="1">
                    <c:v>T6</c:v>
                  </c:pt>
                  <c:pt idx="2">
                    <c:v>T7</c:v>
                  </c:pt>
                  <c:pt idx="3">
                    <c:v>T8</c:v>
                  </c:pt>
                  <c:pt idx="4">
                    <c:v>T9</c:v>
                  </c:pt>
                  <c:pt idx="5">
                    <c:v>T10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</c:v>
                </c:pt>
                <c:pt idx="1">
                  <c:v>2300</c:v>
                </c:pt>
                <c:pt idx="2">
                  <c:v>3800</c:v>
                </c:pt>
                <c:pt idx="3">
                  <c:v>5400</c:v>
                </c:pt>
                <c:pt idx="4">
                  <c:v>7100</c:v>
                </c:pt>
                <c:pt idx="5">
                  <c:v>9200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A7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Cơ cấu nguồn đăng ký (dữ liệu bài làm)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Nguồn đăng ký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8A00"/>
              </a:solidFill>
              <a:effectLst/>
            </c:spPr>
          </c:dPt>
          <c:dPt>
            <c:idx val="1"/>
            <c:bubble3D val="0"/>
            <c:spPr>
              <a:solidFill>
                <a:srgbClr val="FFB45E"/>
              </a:solidFill>
              <a:effectLst/>
            </c:spPr>
          </c:dPt>
          <c:dPt>
            <c:idx val="2"/>
            <c:bubble3D val="0"/>
            <c:spPr>
              <a:solidFill>
                <a:srgbClr val="4DA3FF"/>
              </a:solidFill>
              <a:effectLst/>
            </c:spPr>
          </c:dPt>
          <c:dPt>
            <c:idx val="3"/>
            <c:bubble3D val="0"/>
            <c:spPr>
              <a:solidFill>
                <a:srgbClr val="8FB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F3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F3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F3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F3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Facebook Ads</c:v>
                </c:pt>
                <c:pt idx="2">
                  <c:v>Google Form</c:v>
                </c:pt>
                <c:pt idx="3">
                  <c:v>Zalo OA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68</c:v>
                </c:pt>
                <c:pt idx="1">
                  <c:v>47</c:v>
                </c:pt>
                <c:pt idx="2">
                  <c:v>48</c:v>
                </c:pt>
                <c:pt idx="3">
                  <c:v>37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nhanh: PTIT-Learning là nền tảng học trực tuyến, bài này trình bày tính năng Lớp học ảo và lộ trình học tập của học viên.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quan nền tảng: lợi thế nổi bật, tăng trưởng học viên (số liệu minh họa), cơ cấu nguồn đăng ký và các chỉ số lấy từ file Excel của bài.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nhóm tính năng chính của Lớp học ảo: học trực tiếp, tương tác và theo dõi chuyên cần.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flowchart từ trái sang phải. Nếu học viên không đạt thì học bù rồi vào lại lớp; nếu đạt thì hoàn thành và nhận điểm chuyên cần.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Tỉ lệ tương phản tính theo công thức độ sáng tương đối của WCAG.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FB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PTIT-Learning  |  Lớp học ảo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Lớp học ảo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B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PTIT-Learning: tính năng và lộ trình học tập</a:t>
            </a:r>
            <a:endParaRPr lang="en-US" sz="2000" dirty="0"/>
          </a:p>
        </p:txBody>
      </p:sp>
      <p:sp>
        <p:nvSpPr>
          <p:cNvPr id="4" name="Vòng tròn cam"/>
          <p:cNvSpPr/>
          <p:nvPr/>
        </p:nvSpPr>
        <p:spPr>
          <a:xfrm>
            <a:off x="6949440" y="50292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iểu tượng video" descr="Biểu tượng video lớp họ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868680"/>
            <a:ext cx="731520" cy="731520"/>
          </a:xfrm>
          <a:prstGeom prst="rect">
            <a:avLst/>
          </a:prstGeom>
        </p:spPr>
      </p:pic>
      <p:sp>
        <p:nvSpPr>
          <p:cNvPr id="6" name="Chân tiêu đề"/>
          <p:cNvSpPr txBox="1"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 – Chuẩn bị hồ sơ dự án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nền tảng PTIT-Learning</a:t>
            </a:r>
            <a:endParaRPr lang="en-US" sz="3600" dirty="0"/>
          </a:p>
        </p:txBody>
      </p:sp>
      <p:sp>
        <p:nvSpPr>
          <p:cNvPr id="3" name="Vòng lợi thế 1"/>
          <p:cNvSpPr/>
          <p:nvPr/>
        </p:nvSpPr>
        <p:spPr>
          <a:xfrm>
            <a:off x="502920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lợi thế 1" descr="Lớp học ảo trực tuyế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74320" cy="274320"/>
          </a:xfrm>
          <a:prstGeom prst="rect">
            <a:avLst/>
          </a:prstGeom>
        </p:spPr>
      </p:pic>
      <p:sp>
        <p:nvSpPr>
          <p:cNvPr id="5" name="Lợi thế 1"/>
          <p:cNvSpPr txBox="1"/>
          <p:nvPr/>
        </p:nvSpPr>
        <p:spPr>
          <a:xfrm>
            <a:off x="1161288" y="10972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học ảo trực tuyến</a:t>
            </a:r>
            <a:endParaRPr lang="en-US" sz="1400" dirty="0"/>
          </a:p>
        </p:txBody>
      </p:sp>
      <p:sp>
        <p:nvSpPr>
          <p:cNvPr id="6" name="Vòng lợi thế 2"/>
          <p:cNvSpPr/>
          <p:nvPr/>
        </p:nvSpPr>
        <p:spPr>
          <a:xfrm>
            <a:off x="2560320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lợi thế 2" descr="Học mọi lúc, mọi nơ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234440"/>
            <a:ext cx="274320" cy="274320"/>
          </a:xfrm>
          <a:prstGeom prst="rect">
            <a:avLst/>
          </a:prstGeom>
        </p:spPr>
      </p:pic>
      <p:sp>
        <p:nvSpPr>
          <p:cNvPr id="8" name="Lợi thế 2"/>
          <p:cNvSpPr txBox="1"/>
          <p:nvPr/>
        </p:nvSpPr>
        <p:spPr>
          <a:xfrm>
            <a:off x="3218688" y="10972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mọi lúc, mọi nơi</a:t>
            </a:r>
            <a:endParaRPr lang="en-US" sz="1400" dirty="0"/>
          </a:p>
        </p:txBody>
      </p:sp>
      <p:sp>
        <p:nvSpPr>
          <p:cNvPr id="9" name="Vòng lợi thế 3"/>
          <p:cNvSpPr/>
          <p:nvPr/>
        </p:nvSpPr>
        <p:spPr>
          <a:xfrm>
            <a:off x="4617720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lợi thế 3" descr="Theo dõi tiến độ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34440"/>
            <a:ext cx="274320" cy="274320"/>
          </a:xfrm>
          <a:prstGeom prst="rect">
            <a:avLst/>
          </a:prstGeom>
        </p:spPr>
      </p:pic>
      <p:sp>
        <p:nvSpPr>
          <p:cNvPr id="11" name="Lợi thế 3"/>
          <p:cNvSpPr txBox="1"/>
          <p:nvPr/>
        </p:nvSpPr>
        <p:spPr>
          <a:xfrm>
            <a:off x="5276088" y="10972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tiến độ</a:t>
            </a:r>
            <a:endParaRPr lang="en-US" sz="1400" dirty="0"/>
          </a:p>
        </p:txBody>
      </p:sp>
      <p:sp>
        <p:nvSpPr>
          <p:cNvPr id="12" name="Vòng lợi thế 4"/>
          <p:cNvSpPr/>
          <p:nvPr/>
        </p:nvSpPr>
        <p:spPr>
          <a:xfrm>
            <a:off x="6675120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lợi thế 4" descr="Bảo mật, ổn địn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234440"/>
            <a:ext cx="274320" cy="274320"/>
          </a:xfrm>
          <a:prstGeom prst="rect">
            <a:avLst/>
          </a:prstGeom>
        </p:spPr>
      </p:pic>
      <p:sp>
        <p:nvSpPr>
          <p:cNvPr id="14" name="Lợi thế 4"/>
          <p:cNvSpPr txBox="1"/>
          <p:nvPr/>
        </p:nvSpPr>
        <p:spPr>
          <a:xfrm>
            <a:off x="7333488" y="10972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mật, ổn định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02920" y="1828800"/>
          <a:ext cx="46634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5303520" y="1828800"/>
          <a:ext cx="33375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Ô chỉ số 1"/>
          <p:cNvSpPr/>
          <p:nvPr/>
        </p:nvSpPr>
        <p:spPr>
          <a:xfrm>
            <a:off x="502920" y="3840480"/>
            <a:ext cx="18288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18" name="Số chỉ số 1"/>
          <p:cNvSpPr txBox="1"/>
          <p:nvPr/>
        </p:nvSpPr>
        <p:spPr>
          <a:xfrm>
            <a:off x="594360" y="3877056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600" dirty="0"/>
          </a:p>
        </p:txBody>
      </p:sp>
      <p:sp>
        <p:nvSpPr>
          <p:cNvPr id="19" name="Nhãn chỉ số 1"/>
          <p:cNvSpPr txBox="1"/>
          <p:nvPr/>
        </p:nvSpPr>
        <p:spPr>
          <a:xfrm>
            <a:off x="1325880" y="387705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 đăng ký (mẫu)</a:t>
            </a:r>
            <a:endParaRPr lang="en-US" sz="1200" dirty="0"/>
          </a:p>
        </p:txBody>
      </p:sp>
      <p:sp>
        <p:nvSpPr>
          <p:cNvPr id="20" name="Ô chỉ số 2"/>
          <p:cNvSpPr/>
          <p:nvPr/>
        </p:nvSpPr>
        <p:spPr>
          <a:xfrm>
            <a:off x="2560320" y="3840480"/>
            <a:ext cx="18288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1" name="Số chỉ số 2"/>
          <p:cNvSpPr txBox="1"/>
          <p:nvPr/>
        </p:nvSpPr>
        <p:spPr>
          <a:xfrm>
            <a:off x="2651760" y="3877056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2" name="Nhãn chỉ số 2"/>
          <p:cNvSpPr txBox="1"/>
          <p:nvPr/>
        </p:nvSpPr>
        <p:spPr>
          <a:xfrm>
            <a:off x="3383280" y="387705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học quan tâm</a:t>
            </a:r>
            <a:endParaRPr lang="en-US" sz="1200" dirty="0"/>
          </a:p>
        </p:txBody>
      </p:sp>
      <p:sp>
        <p:nvSpPr>
          <p:cNvPr id="23" name="Ô chỉ số 3"/>
          <p:cNvSpPr/>
          <p:nvPr/>
        </p:nvSpPr>
        <p:spPr>
          <a:xfrm>
            <a:off x="4617720" y="3840480"/>
            <a:ext cx="18288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4" name="Số chỉ số 3"/>
          <p:cNvSpPr txBox="1"/>
          <p:nvPr/>
        </p:nvSpPr>
        <p:spPr>
          <a:xfrm>
            <a:off x="4709160" y="3877056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</a:t>
            </a:r>
            <a:endParaRPr lang="en-US" sz="2600" dirty="0"/>
          </a:p>
        </p:txBody>
      </p:sp>
      <p:sp>
        <p:nvSpPr>
          <p:cNvPr id="25" name="Nhãn chỉ số 3"/>
          <p:cNvSpPr txBox="1"/>
          <p:nvPr/>
        </p:nvSpPr>
        <p:spPr>
          <a:xfrm>
            <a:off x="5440680" y="387705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chuyên cần TB</a:t>
            </a:r>
            <a:endParaRPr lang="en-US" sz="1200" dirty="0"/>
          </a:p>
        </p:txBody>
      </p:sp>
      <p:sp>
        <p:nvSpPr>
          <p:cNvPr id="26" name="Ô chỉ số 4"/>
          <p:cNvSpPr/>
          <p:nvPr/>
        </p:nvSpPr>
        <p:spPr>
          <a:xfrm>
            <a:off x="6675120" y="3840480"/>
            <a:ext cx="18288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7" name="Số chỉ số 4"/>
          <p:cNvSpPr txBox="1"/>
          <p:nvPr/>
        </p:nvSpPr>
        <p:spPr>
          <a:xfrm>
            <a:off x="6766560" y="3877056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600" dirty="0"/>
          </a:p>
        </p:txBody>
      </p:sp>
      <p:sp>
        <p:nvSpPr>
          <p:cNvPr id="28" name="Nhãn chỉ số 4"/>
          <p:cNvSpPr txBox="1"/>
          <p:nvPr/>
        </p:nvSpPr>
        <p:spPr>
          <a:xfrm>
            <a:off x="7498080" y="387705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CNTT dưới 7 điểm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Tính năng Lớp học ảo</a:t>
            </a:r>
            <a:endParaRPr lang="en-US" sz="3600" dirty="0"/>
          </a:p>
        </p:txBody>
      </p:sp>
      <p:sp>
        <p:nvSpPr>
          <p:cNvPr id="3" name="Thẻ 1"/>
          <p:cNvSpPr/>
          <p:nvPr/>
        </p:nvSpPr>
        <p:spPr>
          <a:xfrm>
            <a:off x="502920" y="1280160"/>
            <a:ext cx="2532888" cy="3063240"/>
          </a:xfrm>
          <a:prstGeom prst="roundRect">
            <a:avLst>
              <a:gd name="adj" fmla="val 4332"/>
            </a:avLst>
          </a:prstGeom>
          <a:solidFill>
            <a:schemeClr val="tx2"/>
          </a:solidFill>
          <a:ln/>
        </p:spPr>
      </p:sp>
      <p:sp>
        <p:nvSpPr>
          <p:cNvPr id="4" name="Vòng icon 1"/>
          <p:cNvSpPr/>
          <p:nvPr/>
        </p:nvSpPr>
        <p:spPr>
          <a:xfrm>
            <a:off x="731520" y="15544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1" descr="Học trực tiế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411480" cy="411480"/>
          </a:xfrm>
          <a:prstGeom prst="rect">
            <a:avLst/>
          </a:prstGeom>
        </p:spPr>
      </p:pic>
      <p:sp>
        <p:nvSpPr>
          <p:cNvPr id="6" name="Tên tính năng 1"/>
          <p:cNvSpPr txBox="1"/>
          <p:nvPr/>
        </p:nvSpPr>
        <p:spPr>
          <a:xfrm>
            <a:off x="731520" y="256032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trực tiếp</a:t>
            </a:r>
            <a:endParaRPr lang="en-US" sz="2000" dirty="0"/>
          </a:p>
        </p:txBody>
      </p:sp>
      <p:sp>
        <p:nvSpPr>
          <p:cNvPr id="7" name="Mô tả 1"/>
          <p:cNvSpPr txBox="1"/>
          <p:nvPr/>
        </p:nvSpPr>
        <p:spPr>
          <a:xfrm>
            <a:off x="731520" y="3017520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chia sẻ màn hình và ghi hình để xem lại sau buổi học.</a:t>
            </a:r>
            <a:endParaRPr lang="en-US" sz="1600" dirty="0"/>
          </a:p>
        </p:txBody>
      </p:sp>
      <p:sp>
        <p:nvSpPr>
          <p:cNvPr id="8" name="Thẻ 2"/>
          <p:cNvSpPr/>
          <p:nvPr/>
        </p:nvSpPr>
        <p:spPr>
          <a:xfrm>
            <a:off x="3296412" y="1280160"/>
            <a:ext cx="2532888" cy="3063240"/>
          </a:xfrm>
          <a:prstGeom prst="roundRect">
            <a:avLst>
              <a:gd name="adj" fmla="val 4332"/>
            </a:avLst>
          </a:prstGeom>
          <a:solidFill>
            <a:schemeClr val="tx2"/>
          </a:solidFill>
          <a:ln/>
        </p:spPr>
      </p:sp>
      <p:sp>
        <p:nvSpPr>
          <p:cNvPr id="9" name="Vòng icon 2"/>
          <p:cNvSpPr/>
          <p:nvPr/>
        </p:nvSpPr>
        <p:spPr>
          <a:xfrm>
            <a:off x="3525012" y="15544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2" descr="Tương tá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1737360"/>
            <a:ext cx="411480" cy="411480"/>
          </a:xfrm>
          <a:prstGeom prst="rect">
            <a:avLst/>
          </a:prstGeom>
        </p:spPr>
      </p:pic>
      <p:sp>
        <p:nvSpPr>
          <p:cNvPr id="11" name="Tên tính năng 2"/>
          <p:cNvSpPr txBox="1"/>
          <p:nvPr/>
        </p:nvSpPr>
        <p:spPr>
          <a:xfrm>
            <a:off x="3525012" y="256032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tác</a:t>
            </a:r>
            <a:endParaRPr lang="en-US" sz="2000" dirty="0"/>
          </a:p>
        </p:txBody>
      </p:sp>
      <p:sp>
        <p:nvSpPr>
          <p:cNvPr id="12" name="Mô tả 2"/>
          <p:cNvSpPr txBox="1"/>
          <p:nvPr/>
        </p:nvSpPr>
        <p:spPr>
          <a:xfrm>
            <a:off x="3525012" y="3017520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hỏi đáp ngay trong lớp giữa học viên và giảng viên.</a:t>
            </a:r>
            <a:endParaRPr lang="en-US" sz="1600" dirty="0"/>
          </a:p>
        </p:txBody>
      </p:sp>
      <p:sp>
        <p:nvSpPr>
          <p:cNvPr id="13" name="Thẻ 3"/>
          <p:cNvSpPr/>
          <p:nvPr/>
        </p:nvSpPr>
        <p:spPr>
          <a:xfrm>
            <a:off x="6089904" y="1280160"/>
            <a:ext cx="2532888" cy="3063240"/>
          </a:xfrm>
          <a:prstGeom prst="roundRect">
            <a:avLst>
              <a:gd name="adj" fmla="val 4332"/>
            </a:avLst>
          </a:prstGeom>
          <a:solidFill>
            <a:schemeClr val="tx2"/>
          </a:solidFill>
          <a:ln/>
        </p:spPr>
      </p:sp>
      <p:sp>
        <p:nvSpPr>
          <p:cNvPr id="14" name="Vòng icon 3"/>
          <p:cNvSpPr/>
          <p:nvPr/>
        </p:nvSpPr>
        <p:spPr>
          <a:xfrm>
            <a:off x="6318504" y="15544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3" descr="Điểm chuyên cầ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737360"/>
            <a:ext cx="411480" cy="411480"/>
          </a:xfrm>
          <a:prstGeom prst="rect">
            <a:avLst/>
          </a:prstGeom>
        </p:spPr>
      </p:pic>
      <p:sp>
        <p:nvSpPr>
          <p:cNvPr id="16" name="Tên tính năng 3"/>
          <p:cNvSpPr txBox="1"/>
          <p:nvPr/>
        </p:nvSpPr>
        <p:spPr>
          <a:xfrm>
            <a:off x="6318504" y="256032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chuyên cần</a:t>
            </a:r>
            <a:endParaRPr lang="en-US" sz="2000" dirty="0"/>
          </a:p>
        </p:txBody>
      </p:sp>
      <p:sp>
        <p:nvSpPr>
          <p:cNvPr id="17" name="Mô tả 3"/>
          <p:cNvSpPr txBox="1"/>
          <p:nvPr/>
        </p:nvSpPr>
        <p:spPr>
          <a:xfrm>
            <a:off x="6318504" y="3017520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điểm danh và tính điểm chuyên cần thang 10.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học tập</a:t>
            </a:r>
            <a:endParaRPr lang="en-US" sz="3600" dirty="0"/>
          </a:p>
        </p:txBody>
      </p:sp>
      <p:sp>
        <p:nvSpPr>
          <p:cNvPr id="3" name="Bước 1"/>
          <p:cNvSpPr/>
          <p:nvPr/>
        </p:nvSpPr>
        <p:spPr>
          <a:xfrm>
            <a:off x="502920" y="1874520"/>
            <a:ext cx="132588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khóa học</a:t>
            </a:r>
            <a:endParaRPr lang="en-US" sz="1400" dirty="0"/>
          </a:p>
        </p:txBody>
      </p:sp>
      <p:sp>
        <p:nvSpPr>
          <p:cNvPr id="4" name="Mũi tên"/>
          <p:cNvSpPr/>
          <p:nvPr/>
        </p:nvSpPr>
        <p:spPr>
          <a:xfrm>
            <a:off x="1856232" y="2286000"/>
            <a:ext cx="265176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" name="Bước 2"/>
          <p:cNvSpPr/>
          <p:nvPr/>
        </p:nvSpPr>
        <p:spPr>
          <a:xfrm>
            <a:off x="2148840" y="1874520"/>
            <a:ext cx="132588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vào lớp</a:t>
            </a:r>
            <a:endParaRPr lang="en-US" sz="1400" dirty="0"/>
          </a:p>
        </p:txBody>
      </p:sp>
      <p:sp>
        <p:nvSpPr>
          <p:cNvPr id="6" name="Mũi tên"/>
          <p:cNvSpPr/>
          <p:nvPr/>
        </p:nvSpPr>
        <p:spPr>
          <a:xfrm>
            <a:off x="3502152" y="2286000"/>
            <a:ext cx="265176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Bước 3"/>
          <p:cNvSpPr/>
          <p:nvPr/>
        </p:nvSpPr>
        <p:spPr>
          <a:xfrm>
            <a:off x="3794760" y="1874520"/>
            <a:ext cx="132588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gia lớp học ảo</a:t>
            </a:r>
            <a:endParaRPr lang="en-US" sz="1400" dirty="0"/>
          </a:p>
        </p:txBody>
      </p:sp>
      <p:sp>
        <p:nvSpPr>
          <p:cNvPr id="8" name="Mũi tên"/>
          <p:cNvSpPr/>
          <p:nvPr/>
        </p:nvSpPr>
        <p:spPr>
          <a:xfrm>
            <a:off x="5148072" y="2286000"/>
            <a:ext cx="265176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Bước 4"/>
          <p:cNvSpPr/>
          <p:nvPr/>
        </p:nvSpPr>
        <p:spPr>
          <a:xfrm>
            <a:off x="5440680" y="1874520"/>
            <a:ext cx="132588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bài kiểm tra</a:t>
            </a:r>
            <a:endParaRPr lang="en-US" sz="1400" dirty="0"/>
          </a:p>
        </p:txBody>
      </p:sp>
      <p:sp>
        <p:nvSpPr>
          <p:cNvPr id="10" name="Mũi tên"/>
          <p:cNvSpPr/>
          <p:nvPr/>
        </p:nvSpPr>
        <p:spPr>
          <a:xfrm>
            <a:off x="6793992" y="2286000"/>
            <a:ext cx="265176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Quyết định Đạt"/>
          <p:cNvSpPr/>
          <p:nvPr/>
        </p:nvSpPr>
        <p:spPr>
          <a:xfrm>
            <a:off x="7086600" y="1691640"/>
            <a:ext cx="1554480" cy="1188720"/>
          </a:xfrm>
          <a:prstGeom prst="diamond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Đạt?</a:t>
            </a:r>
            <a:endParaRPr lang="en-US" sz="1800" dirty="0"/>
          </a:p>
        </p:txBody>
      </p:sp>
      <p:sp>
        <p:nvSpPr>
          <p:cNvPr id="12" name="Đoạn nối"/>
          <p:cNvSpPr/>
          <p:nvPr/>
        </p:nvSpPr>
        <p:spPr>
          <a:xfrm>
            <a:off x="7863840" y="1325880"/>
            <a:ext cx="0" cy="3657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3" name="Đoạn nối"/>
          <p:cNvSpPr/>
          <p:nvPr/>
        </p:nvSpPr>
        <p:spPr>
          <a:xfrm>
            <a:off x="4457700" y="1325880"/>
            <a:ext cx="340614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4" name="Mũi tên"/>
          <p:cNvSpPr/>
          <p:nvPr/>
        </p:nvSpPr>
        <p:spPr>
          <a:xfrm>
            <a:off x="4457700" y="1325880"/>
            <a:ext cx="0" cy="53035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Nhãn Không đạt"/>
          <p:cNvSpPr txBox="1"/>
          <p:nvPr/>
        </p:nvSpPr>
        <p:spPr>
          <a:xfrm>
            <a:off x="4594860" y="1399032"/>
            <a:ext cx="3131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đạt: học bù rồi vào lại lớp</a:t>
            </a:r>
            <a:endParaRPr lang="en-US" sz="1400" dirty="0"/>
          </a:p>
        </p:txBody>
      </p:sp>
      <p:sp>
        <p:nvSpPr>
          <p:cNvPr id="16" name="Mũi tên"/>
          <p:cNvSpPr/>
          <p:nvPr/>
        </p:nvSpPr>
        <p:spPr>
          <a:xfrm>
            <a:off x="7863840" y="2898648"/>
            <a:ext cx="0" cy="45720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Nhãn Có"/>
          <p:cNvSpPr txBox="1"/>
          <p:nvPr/>
        </p:nvSpPr>
        <p:spPr>
          <a:xfrm>
            <a:off x="7973568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endParaRPr lang="en-US" sz="1400" dirty="0"/>
          </a:p>
        </p:txBody>
      </p:sp>
      <p:sp>
        <p:nvSpPr>
          <p:cNvPr id="18" name="Hoàn thành"/>
          <p:cNvSpPr/>
          <p:nvPr/>
        </p:nvSpPr>
        <p:spPr>
          <a:xfrm>
            <a:off x="6949440" y="3383280"/>
            <a:ext cx="18288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thành, nhận điểm chuyên cần</a:t>
            </a:r>
            <a:endParaRPr lang="en-US" sz="1400" dirty="0"/>
          </a:p>
        </p:txBody>
      </p:sp>
      <p:sp>
        <p:nvSpPr>
          <p:cNvPr id="19" name="Tiêu đề chú thích"/>
          <p:cNvSpPr txBox="1"/>
          <p:nvPr/>
        </p:nvSpPr>
        <p:spPr>
          <a:xfrm>
            <a:off x="50292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 thích</a:t>
            </a:r>
            <a:endParaRPr lang="en-US" sz="1600" dirty="0"/>
          </a:p>
        </p:txBody>
      </p:sp>
      <p:sp>
        <p:nvSpPr>
          <p:cNvPr id="20" name="Mẫu bước"/>
          <p:cNvSpPr/>
          <p:nvPr/>
        </p:nvSpPr>
        <p:spPr>
          <a:xfrm>
            <a:off x="502920" y="3730752"/>
            <a:ext cx="411480" cy="256032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Chú thích bước"/>
          <p:cNvSpPr txBox="1"/>
          <p:nvPr/>
        </p:nvSpPr>
        <p:spPr>
          <a:xfrm>
            <a:off x="1051560" y="3703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bước thực hiện</a:t>
            </a:r>
            <a:endParaRPr lang="en-US" sz="1400" dirty="0"/>
          </a:p>
        </p:txBody>
      </p:sp>
      <p:sp>
        <p:nvSpPr>
          <p:cNvPr id="22" name="Mẫu quyết định"/>
          <p:cNvSpPr/>
          <p:nvPr/>
        </p:nvSpPr>
        <p:spPr>
          <a:xfrm>
            <a:off x="502920" y="4114800"/>
            <a:ext cx="411480" cy="310896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23" name="Chú thích quyết định"/>
          <p:cNvSpPr txBox="1"/>
          <p:nvPr/>
        </p:nvSpPr>
        <p:spPr>
          <a:xfrm>
            <a:off x="1051560" y="41056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quyết định (chuyên cần từ 7 trở lên là đạt)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Màu sắc và độ tương phản</a:t>
            </a:r>
            <a:endParaRPr lang="en-US" sz="3600" dirty="0"/>
          </a:p>
        </p:txBody>
      </p:sp>
      <p:sp>
        <p:nvSpPr>
          <p:cNvPr id="3" name="Ô số 1"/>
          <p:cNvSpPr/>
          <p:nvPr/>
        </p:nvSpPr>
        <p:spPr>
          <a:xfrm>
            <a:off x="502920" y="1280160"/>
            <a:ext cx="253288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4" name="Mẫu màu 1"/>
          <p:cNvSpPr txBox="1"/>
          <p:nvPr/>
        </p:nvSpPr>
        <p:spPr>
          <a:xfrm>
            <a:off x="777240" y="1463040"/>
            <a:ext cx="914400" cy="64008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3200" dirty="0"/>
          </a:p>
        </p:txBody>
      </p:sp>
      <p:sp>
        <p:nvSpPr>
          <p:cNvPr id="5" name="Số 1"/>
          <p:cNvSpPr txBox="1"/>
          <p:nvPr/>
        </p:nvSpPr>
        <p:spPr>
          <a:xfrm>
            <a:off x="777240" y="2194560"/>
            <a:ext cx="198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16.5:1</a:t>
            </a:r>
            <a:endParaRPr lang="en-US" sz="4000" dirty="0"/>
          </a:p>
        </p:txBody>
      </p:sp>
      <p:sp>
        <p:nvSpPr>
          <p:cNvPr id="6" name="Nhãn 1"/>
          <p:cNvSpPr txBox="1"/>
          <p:nvPr/>
        </p:nvSpPr>
        <p:spPr>
          <a:xfrm>
            <a:off x="777240" y="2788920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trắng trên nền Navy</a:t>
            </a:r>
            <a:endParaRPr lang="en-US" sz="1400" dirty="0"/>
          </a:p>
        </p:txBody>
      </p:sp>
      <p:sp>
        <p:nvSpPr>
          <p:cNvPr id="7" name="Ô số 2"/>
          <p:cNvSpPr/>
          <p:nvPr/>
        </p:nvSpPr>
        <p:spPr>
          <a:xfrm>
            <a:off x="3296412" y="1280160"/>
            <a:ext cx="253288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8" name="Mẫu màu 2"/>
          <p:cNvSpPr txBox="1"/>
          <p:nvPr/>
        </p:nvSpPr>
        <p:spPr>
          <a:xfrm>
            <a:off x="3570732" y="1463040"/>
            <a:ext cx="914400" cy="64008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3200" dirty="0"/>
          </a:p>
        </p:txBody>
      </p:sp>
      <p:sp>
        <p:nvSpPr>
          <p:cNvPr id="9" name="Số 2"/>
          <p:cNvSpPr txBox="1"/>
          <p:nvPr/>
        </p:nvSpPr>
        <p:spPr>
          <a:xfrm>
            <a:off x="3570732" y="2194560"/>
            <a:ext cx="198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7.0:1</a:t>
            </a:r>
            <a:endParaRPr lang="en-US" sz="4000" dirty="0"/>
          </a:p>
        </p:txBody>
      </p:sp>
      <p:sp>
        <p:nvSpPr>
          <p:cNvPr id="10" name="Nhãn 2"/>
          <p:cNvSpPr txBox="1"/>
          <p:nvPr/>
        </p:nvSpPr>
        <p:spPr>
          <a:xfrm>
            <a:off x="3570732" y="2788920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Màu cam nhấn trên nền Navy</a:t>
            </a:r>
            <a:endParaRPr lang="en-US" sz="1400" dirty="0"/>
          </a:p>
        </p:txBody>
      </p:sp>
      <p:sp>
        <p:nvSpPr>
          <p:cNvPr id="11" name="Ô số 3"/>
          <p:cNvSpPr/>
          <p:nvPr/>
        </p:nvSpPr>
        <p:spPr>
          <a:xfrm>
            <a:off x="6089904" y="1280160"/>
            <a:ext cx="253288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2" name="Mẫu màu 3"/>
          <p:cNvSpPr txBox="1"/>
          <p:nvPr/>
        </p:nvSpPr>
        <p:spPr>
          <a:xfrm>
            <a:off x="6364224" y="1463040"/>
            <a:ext cx="914400" cy="640080"/>
          </a:xfrm>
          <a:prstGeom prst="rect">
            <a:avLst/>
          </a:prstGeom>
          <a:solidFill>
            <a:srgbClr val="1632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3200" dirty="0"/>
          </a:p>
        </p:txBody>
      </p:sp>
      <p:sp>
        <p:nvSpPr>
          <p:cNvPr id="13" name="Số 3"/>
          <p:cNvSpPr txBox="1"/>
          <p:nvPr/>
        </p:nvSpPr>
        <p:spPr>
          <a:xfrm>
            <a:off x="6364224" y="2194560"/>
            <a:ext cx="198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12.8:1</a:t>
            </a:r>
            <a:endParaRPr lang="en-US" sz="4000" dirty="0"/>
          </a:p>
        </p:txBody>
      </p:sp>
      <p:sp>
        <p:nvSpPr>
          <p:cNvPr id="14" name="Nhãn 3"/>
          <p:cNvSpPr txBox="1"/>
          <p:nvPr/>
        </p:nvSpPr>
        <p:spPr>
          <a:xfrm>
            <a:off x="6364224" y="2788920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trắng trên thẻ Navy sáng</a:t>
            </a:r>
            <a:endParaRPr lang="en-US" sz="1400" dirty="0"/>
          </a:p>
        </p:txBody>
      </p:sp>
      <p:sp>
        <p:nvSpPr>
          <p:cNvPr id="15" name="Kết luận tương phản"/>
          <p:cNvSpPr txBox="1"/>
          <p:nvPr/>
        </p:nvSpPr>
        <p:spPr>
          <a:xfrm>
            <a:off x="502920" y="36118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ba cặp màu đều vượt mức 4.5:1 mà chuẩn WCAG AA yêu cầu cho chữ thường, nên chữ dễ đọc trên màn chiếu.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TIT-Learning Navy">
  <a:themeElements>
    <a:clrScheme name="PTIT-Learning Navy">
      <a:dk1>
        <a:srgbClr val="0B1F3A"/>
      </a:dk1>
      <a:lt1>
        <a:srgbClr val="FFFFFF"/>
      </a:lt1>
      <a:dk2>
        <a:srgbClr val="16325C"/>
      </a:dk2>
      <a:lt2>
        <a:srgbClr val="E8EEF7"/>
      </a:lt2>
      <a:accent1>
        <a:srgbClr val="FF8A00"/>
      </a:accent1>
      <a:accent2>
        <a:srgbClr val="FFB45E"/>
      </a:accent2>
      <a:accent3>
        <a:srgbClr val="4DA3FF"/>
      </a:accent3>
      <a:accent4>
        <a:srgbClr val="8FB8E8"/>
      </a:accent4>
      <a:accent5>
        <a:srgbClr val="C9D6EA"/>
      </a:accent5>
      <a:accent6>
        <a:srgbClr val="FFD9A8"/>
      </a:accent6>
      <a:hlink>
        <a:srgbClr val="FFB45E"/>
      </a:hlink>
      <a:folHlink>
        <a:srgbClr val="C9D6EA"/>
      </a:folHlink>
    </a:clrScheme>
    <a:fontScheme name="PTIT-Learning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PTIT-Learning - Lớp học ảo</dc:title>
  <dc:subject>PptxGenJS Presentation</dc:subject>
  <dc:creator>PptxGenJS</dc:creator>
  <cp:lastModifiedBy>PptxGenJS</cp:lastModifiedBy>
  <cp:revision>1</cp:revision>
  <dcterms:created xsi:type="dcterms:W3CDTF">2026-10-26T23:12:10Z</dcterms:created>
  <dcterms:modified xsi:type="dcterms:W3CDTF">2026-10-26T23:12:10Z</dcterms:modified>
</cp:coreProperties>
</file>